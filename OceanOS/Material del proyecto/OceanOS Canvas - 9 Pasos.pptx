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67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5437" y="1885950"/>
            <a:ext cx="9001125" cy="1676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sz="6000" b="1" i="0" u="none">
                <a:solidFill>
                  <a:srgbClr val="FFFFFF"/>
                </a:solidFill>
                <a:latin typeface="Urbanist"/>
              </a:rPr>
              <a:t>Modelo Canvas</a:t>
            </a:r>
            <a:r>
              <a:t>
</a:t>
            </a:r>
            <a:r>
              <a:rPr sz="6000" b="1" i="0" u="none">
                <a:solidFill>
                  <a:srgbClr val="00E5FF"/>
                </a:solidFill>
                <a:latin typeface="Urbanist"/>
              </a:rPr>
              <a:t>Los 9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9750" y="3752850"/>
            <a:ext cx="85725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81A1C1"/>
                </a:solidFill>
                <a:latin typeface="Urbanist Medium"/>
              </a:rPr>
              <a:t>Presentación ejecutiva de la plataforma OceanOS. Estructuración lógica y emocional del Sistema Operativo del Océano integrando ciencia ciudadana y automatización (n8n).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550693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0" i="0" u="none">
                <a:solidFill>
                  <a:srgbClr val="FFFFFF"/>
                </a:solidFill>
                <a:latin typeface="Urbanist Black"/>
              </a:rPr>
              <a:t>Contexto del </a:t>
            </a:r>
            <a:r>
              <a:rPr sz="3750" b="0" i="0" u="none">
                <a:solidFill>
                  <a:srgbClr val="00E5FF"/>
                </a:solidFill>
                <a:latin typeface="Urbanist Black"/>
              </a:rPr>
              <a:t>Proyecto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724025"/>
            <a:ext cx="555069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0E5FF"/>
                </a:solidFill>
                <a:latin typeface="Urbanist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228850"/>
            <a:ext cx="528637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E3F2FD"/>
                </a:solidFill>
                <a:latin typeface="Urbanist"/>
              </a:rPr>
              <a:t>90% de pérdida de bosques de kelp y 70% de disminución de tiburones en el Atlántico Sur. Falta grave de datos para la gestión ecológica.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19475"/>
            <a:ext cx="555069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0E5FF"/>
                </a:solidFill>
                <a:latin typeface="Urbanist"/>
              </a:rPr>
              <a:t>La Solución OceanOS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924300"/>
            <a:ext cx="5286375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E3F2FD"/>
                </a:solidFill>
                <a:latin typeface="Urbanist"/>
              </a:rPr>
              <a:t>Una plataforma de 3 capas que democratiza la recolección de datos mediante ciencia ciudadana (App B2C), procesa la información en tiempo real (SaaS B2B) y financia la conservación mediante créditos de carbono (Marketplace ESG).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71712"/>
            <a:ext cx="3492549" cy="3276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271712"/>
            <a:ext cx="3492549" cy="3276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271712"/>
            <a:ext cx="3492549" cy="3276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566987"/>
            <a:ext cx="476250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233737"/>
            <a:ext cx="277034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0E5FF"/>
                </a:solidFill>
                <a:latin typeface="Urbanist"/>
              </a:rPr>
              <a:t>Para B2C (Ciudadanos)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681412"/>
            <a:ext cx="2901999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B0BEC5"/>
                </a:solidFill>
                <a:latin typeface="Urbanist"/>
              </a:rPr>
              <a:t>App gratuita que convierte el acto de documentar la naturaleza en recompensas tangibles (Tokens OKN) canjeables en ecoturismo. Resuelve la falta de incentivos.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074" y="2566987"/>
            <a:ext cx="476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45074" y="3233737"/>
            <a:ext cx="286035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0E5FF"/>
                </a:solidFill>
                <a:latin typeface="Urbanist"/>
              </a:rPr>
              <a:t>Para B2B (SaaS Marino)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074" y="3681412"/>
            <a:ext cx="2901999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B0BEC5"/>
                </a:solidFill>
                <a:latin typeface="Urbanist"/>
              </a:rPr>
              <a:t>Monitoreo oceánico en tiempo real con alertas tempranas. Alivia la frustración de la falta de datos y ahorra inmensos costos de monitoreo manual.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3374" y="2566987"/>
            <a:ext cx="476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23374" y="3233737"/>
            <a:ext cx="288036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0E5FF"/>
                </a:solidFill>
                <a:latin typeface="Urbanist"/>
              </a:rPr>
              <a:t>Para ESG (Marketplace)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3374" y="3681412"/>
            <a:ext cx="2901999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B0BEC5"/>
                </a:solidFill>
                <a:latin typeface="Urbanist"/>
              </a:rPr>
              <a:t>Acceso seguro y directo a activos de carbono azul verificados y ecosistemas de kelp trazables para corporaciones con metas net-zero.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175" y="2690812"/>
            <a:ext cx="17145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612" y="2690812"/>
            <a:ext cx="25717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7199" y="2690812"/>
            <a:ext cx="22860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0" i="0" u="none">
                <a:solidFill>
                  <a:srgbClr val="FFFFFF"/>
                </a:solidFill>
                <a:latin typeface="Urbanist Black"/>
              </a:rPr>
              <a:t>Paso 2: </a:t>
            </a:r>
            <a:r>
              <a:rPr sz="3750" b="0" i="0" u="none">
                <a:solidFill>
                  <a:srgbClr val="00E5FF"/>
                </a:solidFill>
                <a:latin typeface="Urbanist Black"/>
              </a:rPr>
              <a:t>Propuesta de Valor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71500" y="2390775"/>
          <a:ext cx="11048998" cy="3170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1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2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19237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041222"/>
                          </a:solidFill>
                          <a:latin typeface="Urbanist ExtraBold"/>
                        </a:rPr>
                        <a:t>Paso 1: Segmentos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041222"/>
                          </a:solidFill>
                          <a:latin typeface="Urbanist ExtraBold"/>
                        </a:rPr>
                        <a:t>Paso 4: Relación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041222"/>
                          </a:solidFill>
                          <a:latin typeface="Urbanist ExtraBold"/>
                        </a:rPr>
                        <a:t>Paso 3: Canales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9238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B0BEC5"/>
                          </a:solidFill>
                          <a:latin typeface="Urbanist"/>
                        </a:rPr>
                        <a:t>
</a:t>
                      </a:r>
                      <a:r>
                        <a:rPr sz="1500" b="1" i="0" u="none">
                          <a:solidFill>
                            <a:srgbClr val="B0BEC5"/>
                          </a:solidFill>
                          <a:latin typeface="Urbanist"/>
                        </a:rPr>
                        <a:t>B2C:</a:t>
                      </a:r>
                      <a:r>
                        <a:rPr sz="1500" b="0" i="0" u="none">
                          <a:solidFill>
                            <a:srgbClr val="B0BEC5"/>
                          </a:solidFill>
                          <a:latin typeface="Urbanist"/>
                        </a:rPr>
                        <a:t> Buceadores (~3.5k), pescadores, turistas e investigadores.
</a:t>
                      </a:r>
                      <a:r>
                        <a:rPr sz="1500" b="1" i="0" u="none">
                          <a:solidFill>
                            <a:srgbClr val="B0BEC5"/>
                          </a:solidFill>
                          <a:latin typeface="Urbanist"/>
                        </a:rPr>
                        <a:t>B2B SaaS:</a:t>
                      </a:r>
                      <a:r>
                        <a:rPr sz="1500" b="0" i="0" u="none">
                          <a:solidFill>
                            <a:srgbClr val="B0BEC5"/>
                          </a:solidFill>
                          <a:latin typeface="Urbanist"/>
                        </a:rPr>
                        <a:t> ONGs, áreas protegidas y pesqueras patagónicas.
</a:t>
                      </a:r>
                      <a:r>
                        <a:rPr sz="1500" b="1" i="0" u="none">
                          <a:solidFill>
                            <a:srgbClr val="B0BEC5"/>
                          </a:solidFill>
                          <a:latin typeface="Urbanist"/>
                        </a:rPr>
                        <a:t>Mercado ESG:</a:t>
                      </a:r>
                      <a:r>
                        <a:rPr sz="1500" b="0" i="0" u="none">
                          <a:solidFill>
                            <a:srgbClr val="B0BEC5"/>
                          </a:solidFill>
                          <a:latin typeface="Urbanist"/>
                        </a:rPr>
                        <a:t> Corporaciones globales.
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B0BEC5"/>
                          </a:solidFill>
                          <a:latin typeface="Urbanist"/>
                        </a:rPr>
                        <a:t>
</a:t>
                      </a:r>
                      <a:r>
                        <a:rPr sz="1500" b="1" i="0" u="none">
                          <a:solidFill>
                            <a:srgbClr val="B0BEC5"/>
                          </a:solidFill>
                          <a:latin typeface="Urbanist"/>
                        </a:rPr>
                        <a:t>Self-Service:</a:t>
                      </a:r>
                      <a:r>
                        <a:rPr sz="1500" b="0" i="0" u="none">
                          <a:solidFill>
                            <a:srgbClr val="B0BEC5"/>
                          </a:solidFill>
                          <a:latin typeface="Urbanist"/>
                        </a:rPr>
                        <a:t> Gamificación (insignias, rankings) en la app.
</a:t>
                      </a:r>
                      <a:r>
                        <a:rPr sz="1500" b="1" i="0" u="none">
                          <a:solidFill>
                            <a:srgbClr val="B0BEC5"/>
                          </a:solidFill>
                          <a:latin typeface="Urbanist"/>
                        </a:rPr>
                        <a:t>Automatizada:</a:t>
                      </a:r>
                      <a:r>
                        <a:rPr sz="1500" b="0" i="0" u="none">
                          <a:solidFill>
                            <a:srgbClr val="B0BEC5"/>
                          </a:solidFill>
                          <a:latin typeface="Urbanist"/>
                        </a:rPr>
                        <a:t> Alertas y notificaciones orquestadas por n8n.
</a:t>
                      </a:r>
                      <a:r>
                        <a:rPr sz="1500" b="1" i="0" u="none">
                          <a:solidFill>
                            <a:srgbClr val="B0BEC5"/>
                          </a:solidFill>
                          <a:latin typeface="Urbanist"/>
                        </a:rPr>
                        <a:t>Soporte Dedicado:</a:t>
                      </a:r>
                      <a:r>
                        <a:rPr sz="1500" b="0" i="0" u="none">
                          <a:solidFill>
                            <a:srgbClr val="B0BEC5"/>
                          </a:solidFill>
                          <a:latin typeface="Urbanist"/>
                        </a:rPr>
                        <a:t> Para clientes SaaS Enterprise.
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B0BEC5"/>
                          </a:solidFill>
                          <a:latin typeface="Urbanist"/>
                        </a:rPr>
                        <a:t>
App móvil (iOS/Android).
Dashboard web (SaaS).
Plataforma web de activos.
WhatsApp y redes sociales para captación.
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4606825" y="3124200"/>
            <a:ext cx="9525" cy="2305050"/>
          </a:xfrm>
          <a:prstGeom prst="rect">
            <a:avLst/>
          </a:prstGeom>
          <a:solidFill>
            <a:srgbClr val="15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558212" y="3124200"/>
            <a:ext cx="9525" cy="2305050"/>
          </a:xfrm>
          <a:prstGeom prst="rect">
            <a:avLst/>
          </a:prstGeom>
          <a:solidFill>
            <a:srgbClr val="15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1550" y="3333750"/>
            <a:ext cx="3430488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B0BEC5"/>
                </a:solidFill>
                <a:latin typeface="Urbanist"/>
              </a:rPr>
              <a:t>B2C:</a:t>
            </a:r>
            <a:r>
              <a:rPr sz="1350" b="0" i="0" u="none">
                <a:solidFill>
                  <a:srgbClr val="B0BEC5"/>
                </a:solidFill>
                <a:latin typeface="Urbanist"/>
              </a:rPr>
              <a:t> Buceadores (~3.5k), pescadores, turistas e investigadores.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3962400"/>
            <a:ext cx="3430488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B0BEC5"/>
                </a:solidFill>
                <a:latin typeface="Urbanist"/>
              </a:rPr>
              <a:t>B2B SaaS:</a:t>
            </a:r>
            <a:r>
              <a:rPr sz="1350" b="0" i="0" u="none">
                <a:solidFill>
                  <a:srgbClr val="B0BEC5"/>
                </a:solidFill>
                <a:latin typeface="Urbanist"/>
              </a:rPr>
              <a:t> ONGs, áreas protegidas y pesqueras patagónicas.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4591050"/>
            <a:ext cx="343048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B0BEC5"/>
                </a:solidFill>
                <a:latin typeface="Urbanist"/>
              </a:rPr>
              <a:t>Mercado ESG:</a:t>
            </a:r>
            <a:r>
              <a:rPr sz="1350" b="0" i="0" u="none">
                <a:solidFill>
                  <a:srgbClr val="B0BEC5"/>
                </a:solidFill>
                <a:latin typeface="Urbanist"/>
              </a:rPr>
              <a:t> Corporaciones globales.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1163" y="3333750"/>
            <a:ext cx="3332261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B0BEC5"/>
                </a:solidFill>
                <a:latin typeface="Urbanist"/>
              </a:rPr>
              <a:t>Self-Service:</a:t>
            </a:r>
            <a:r>
              <a:rPr sz="1350" b="0" i="0" u="none">
                <a:solidFill>
                  <a:srgbClr val="B0BEC5"/>
                </a:solidFill>
                <a:latin typeface="Urbanist"/>
              </a:rPr>
              <a:t> Gamificación (insignias, rankings) en la app.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1163" y="3962400"/>
            <a:ext cx="3332261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B0BEC5"/>
                </a:solidFill>
                <a:latin typeface="Urbanist"/>
              </a:rPr>
              <a:t>Automatizada:</a:t>
            </a:r>
            <a:r>
              <a:rPr sz="1350" b="0" i="0" u="none">
                <a:solidFill>
                  <a:srgbClr val="B0BEC5"/>
                </a:solidFill>
                <a:latin typeface="Urbanist"/>
              </a:rPr>
              <a:t> Alertas y notificaciones orquestadas por n8n.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1163" y="4591050"/>
            <a:ext cx="3332261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B0BEC5"/>
                </a:solidFill>
                <a:latin typeface="Urbanist"/>
              </a:rPr>
              <a:t>Soporte Dedicado:</a:t>
            </a:r>
            <a:r>
              <a:rPr sz="1350" b="0" i="0" u="none">
                <a:solidFill>
                  <a:srgbClr val="B0BEC5"/>
                </a:solidFill>
                <a:latin typeface="Urbanist"/>
              </a:rPr>
              <a:t> Para clientes SaaS Enterprise.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2550" y="3333750"/>
            <a:ext cx="24384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B0BEC5"/>
                </a:solidFill>
                <a:latin typeface="Urbanist"/>
              </a:rPr>
              <a:t>App móvil (iOS/Android).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2550" y="3705225"/>
            <a:ext cx="24384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B0BEC5"/>
                </a:solidFill>
                <a:latin typeface="Urbanist"/>
              </a:rPr>
              <a:t>Dashboard web (SaaS).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2550" y="4076700"/>
            <a:ext cx="24384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B0BEC5"/>
                </a:solidFill>
                <a:latin typeface="Urbanist"/>
              </a:rPr>
              <a:t>Plataforma web de activos.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2550" y="4448175"/>
            <a:ext cx="24384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B0BEC5"/>
                </a:solidFill>
                <a:latin typeface="Urbanist"/>
              </a:rPr>
              <a:t>WhatsApp y redes sociales para captación.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" y="3276600"/>
            <a:ext cx="381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0E5FF"/>
                </a:solidFill>
                <a:latin typeface="Urbanist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50" y="3905250"/>
            <a:ext cx="381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0E5FF"/>
                </a:solidFill>
                <a:latin typeface="Urbanist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50" y="4533900"/>
            <a:ext cx="381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0E5FF"/>
                </a:solidFill>
                <a:latin typeface="Urbanist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0663" y="3276600"/>
            <a:ext cx="381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0E5FF"/>
                </a:solidFill>
                <a:latin typeface="Urbanist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0663" y="3905250"/>
            <a:ext cx="381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0E5FF"/>
                </a:solidFill>
                <a:latin typeface="Urbanist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0663" y="4533900"/>
            <a:ext cx="381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0E5FF"/>
                </a:solidFill>
                <a:latin typeface="Urbanist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82050" y="3276600"/>
            <a:ext cx="381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0E5FF"/>
                </a:solidFill>
                <a:latin typeface="Urbanist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82050" y="3648075"/>
            <a:ext cx="381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0E5FF"/>
                </a:solidFill>
                <a:latin typeface="Urbanist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82050" y="4019550"/>
            <a:ext cx="381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0E5FF"/>
                </a:solidFill>
                <a:latin typeface="Urbanist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2050" y="4391025"/>
            <a:ext cx="381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0E5FF"/>
                </a:solidFill>
                <a:latin typeface="Urbanist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0" i="0" u="none">
                <a:solidFill>
                  <a:srgbClr val="FFFFFF"/>
                </a:solidFill>
                <a:latin typeface="Urbanist Black"/>
              </a:rPr>
              <a:t>Hemisferio Derecho: </a:t>
            </a:r>
            <a:r>
              <a:rPr sz="3750" b="0" i="0" u="none">
                <a:solidFill>
                  <a:srgbClr val="00E5FF"/>
                </a:solidFill>
                <a:latin typeface="Urbanist Black"/>
              </a:rPr>
              <a:t>Mercado (Pasos 1, 3 y 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71500" y="2590800"/>
          <a:ext cx="11048999" cy="2741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6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1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1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19212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041222"/>
                          </a:solidFill>
                          <a:latin typeface="Urbanist ExtraBold"/>
                        </a:rPr>
                        <a:t>Paso 8: Socios Clave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041222"/>
                          </a:solidFill>
                          <a:latin typeface="Urbanist ExtraBold"/>
                        </a:rPr>
                        <a:t>Paso 7: Actividades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041222"/>
                          </a:solidFill>
                          <a:latin typeface="Urbanist ExtraBold"/>
                        </a:rPr>
                        <a:t>Paso 6: Recursos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9213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B0BEC5"/>
                          </a:solidFill>
                          <a:latin typeface="Urbanist"/>
                        </a:rPr>
                        <a:t>
CONICET / CENPAT (Validación).
Secretaría de Pesca (Regulación).
Operadores Turísticos (Tokens).
Verra / Gold Standard (Carbono).
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B0BEC5"/>
                          </a:solidFill>
                          <a:latin typeface="Urbanist"/>
                        </a:rPr>
                        <a:t>
Desarrollo de App e IA on-device.
Operación de flujos (workflows n8n).
Validación comunitaria de datos.
Gestión del marketplace.
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B0BEC5"/>
                          </a:solidFill>
                          <a:latin typeface="Urbanist"/>
                        </a:rPr>
                        <a:t>
</a:t>
                      </a:r>
                      <a:r>
                        <a:rPr sz="1500" b="1" i="0" u="none">
                          <a:solidFill>
                            <a:srgbClr val="B0BEC5"/>
                          </a:solidFill>
                          <a:latin typeface="Urbanist"/>
                        </a:rPr>
                        <a:t>Tech:</a:t>
                      </a:r>
                      <a:r>
                        <a:rPr sz="1500" b="0" i="0" u="none">
                          <a:solidFill>
                            <a:srgbClr val="B0BEC5"/>
                          </a:solidFill>
                          <a:latin typeface="Urbanist"/>
                        </a:rPr>
                        <a:t> IA (TensorFlow), Supabase, n8n.
</a:t>
                      </a:r>
                      <a:r>
                        <a:rPr sz="1500" b="1" i="0" u="none">
                          <a:solidFill>
                            <a:srgbClr val="B0BEC5"/>
                          </a:solidFill>
                          <a:latin typeface="Urbanist"/>
                        </a:rPr>
                        <a:t>Datos:</a:t>
                      </a:r>
                      <a:r>
                        <a:rPr sz="1500" b="0" i="0" u="none">
                          <a:solidFill>
                            <a:srgbClr val="B0BEC5"/>
                          </a:solidFill>
                          <a:latin typeface="Urbanist"/>
                        </a:rPr>
                        <a:t> Base de avistamientos verificados.
</a:t>
                      </a:r>
                      <a:r>
                        <a:rPr sz="1500" b="1" i="0" u="none">
                          <a:solidFill>
                            <a:srgbClr val="B0BEC5"/>
                          </a:solidFill>
                          <a:latin typeface="Urbanist"/>
                        </a:rPr>
                        <a:t>Humanos:</a:t>
                      </a:r>
                      <a:r>
                        <a:rPr sz="1500" b="0" i="0" u="none">
                          <a:solidFill>
                            <a:srgbClr val="B0BEC5"/>
                          </a:solidFill>
                          <a:latin typeface="Urbanist"/>
                        </a:rPr>
                        <a:t> Equipo tech y biólogos.
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937992" y="3324225"/>
            <a:ext cx="9525" cy="1905000"/>
          </a:xfrm>
          <a:prstGeom prst="rect">
            <a:avLst/>
          </a:prstGeom>
          <a:solidFill>
            <a:srgbClr val="15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579369" y="3324225"/>
            <a:ext cx="9525" cy="1905000"/>
          </a:xfrm>
          <a:prstGeom prst="rect">
            <a:avLst/>
          </a:prstGeom>
          <a:solidFill>
            <a:srgbClr val="15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1550" y="3533775"/>
            <a:ext cx="27616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B0BEC5"/>
                </a:solidFill>
                <a:latin typeface="Urbanist"/>
              </a:rPr>
              <a:t>CONICET / CENPAT (Validación).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3905250"/>
            <a:ext cx="27616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B0BEC5"/>
                </a:solidFill>
                <a:latin typeface="Urbanist"/>
              </a:rPr>
              <a:t>Secretaría de Pesca (Regulación).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4276725"/>
            <a:ext cx="27616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B0BEC5"/>
                </a:solidFill>
                <a:latin typeface="Urbanist"/>
              </a:rPr>
              <a:t>Operadores Turísticos (Tokens).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4648200"/>
            <a:ext cx="27616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B0BEC5"/>
                </a:solidFill>
                <a:latin typeface="Urbanist"/>
              </a:rPr>
              <a:t>Verra / Gold Standard (Carbono).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2329" y="3533775"/>
            <a:ext cx="302225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B0BEC5"/>
                </a:solidFill>
                <a:latin typeface="Urbanist"/>
              </a:rPr>
              <a:t>Desarrollo de App e IA on-device.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52329" y="3905250"/>
            <a:ext cx="302225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B0BEC5"/>
                </a:solidFill>
                <a:latin typeface="Urbanist"/>
              </a:rPr>
              <a:t>Operación de flujos (workflows n8n).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2329" y="4276725"/>
            <a:ext cx="302225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B0BEC5"/>
                </a:solidFill>
                <a:latin typeface="Urbanist"/>
              </a:rPr>
              <a:t>Validación comunitaria de datos.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2329" y="4648200"/>
            <a:ext cx="302225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B0BEC5"/>
                </a:solidFill>
                <a:latin typeface="Urbanist"/>
              </a:rPr>
              <a:t>Gestión del marketplace.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93707" y="3533775"/>
            <a:ext cx="341724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B0BEC5"/>
                </a:solidFill>
                <a:latin typeface="Urbanist"/>
              </a:rPr>
              <a:t>Tech:</a:t>
            </a:r>
            <a:r>
              <a:rPr sz="1350" b="0" i="0" u="none">
                <a:solidFill>
                  <a:srgbClr val="B0BEC5"/>
                </a:solidFill>
                <a:latin typeface="Urbanist"/>
              </a:rPr>
              <a:t> IA (TensorFlow), Supabase, n8n.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3707" y="3905250"/>
            <a:ext cx="341724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B0BEC5"/>
                </a:solidFill>
                <a:latin typeface="Urbanist"/>
              </a:rPr>
              <a:t>Datos:</a:t>
            </a:r>
            <a:r>
              <a:rPr sz="1350" b="0" i="0" u="none">
                <a:solidFill>
                  <a:srgbClr val="B0BEC5"/>
                </a:solidFill>
                <a:latin typeface="Urbanist"/>
              </a:rPr>
              <a:t> Base de avistamientos verificados.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3707" y="4276725"/>
            <a:ext cx="3417242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B0BEC5"/>
                </a:solidFill>
                <a:latin typeface="Urbanist"/>
              </a:rPr>
              <a:t>Humanos:</a:t>
            </a:r>
            <a:r>
              <a:rPr sz="1350" b="0" i="0" u="none">
                <a:solidFill>
                  <a:srgbClr val="B0BEC5"/>
                </a:solidFill>
                <a:latin typeface="Urbanist"/>
              </a:rPr>
              <a:t> Equipo tech y biólogos.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50" y="3476625"/>
            <a:ext cx="381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0E5FF"/>
                </a:solidFill>
                <a:latin typeface="Urbanist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50" y="3848100"/>
            <a:ext cx="381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0E5FF"/>
                </a:solidFill>
                <a:latin typeface="Urbanist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0" y="4219575"/>
            <a:ext cx="381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0E5FF"/>
                </a:solidFill>
                <a:latin typeface="Urbanist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050" y="4591050"/>
            <a:ext cx="381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0E5FF"/>
                </a:solidFill>
                <a:latin typeface="Urbanist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1829" y="3476625"/>
            <a:ext cx="381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0E5FF"/>
                </a:solidFill>
                <a:latin typeface="Urbanist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1829" y="3848100"/>
            <a:ext cx="381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0E5FF"/>
                </a:solidFill>
                <a:latin typeface="Urbanist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1829" y="4219575"/>
            <a:ext cx="381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0E5FF"/>
                </a:solidFill>
                <a:latin typeface="Urbanist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1829" y="4591050"/>
            <a:ext cx="381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0E5FF"/>
                </a:solidFill>
                <a:latin typeface="Urbanist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03207" y="3476625"/>
            <a:ext cx="381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0E5FF"/>
                </a:solidFill>
                <a:latin typeface="Urbanist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03207" y="3848100"/>
            <a:ext cx="381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0E5FF"/>
                </a:solidFill>
                <a:latin typeface="Urbanist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3207" y="4219575"/>
            <a:ext cx="381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0E5FF"/>
                </a:solidFill>
                <a:latin typeface="Urbanist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0" i="0" u="none">
                <a:solidFill>
                  <a:srgbClr val="FFFFFF"/>
                </a:solidFill>
                <a:latin typeface="Urbanist Black"/>
              </a:rPr>
              <a:t>Hemisferio Izquierdo: </a:t>
            </a:r>
            <a:r>
              <a:rPr sz="3750" b="0" i="0" u="none">
                <a:solidFill>
                  <a:srgbClr val="00E5FF"/>
                </a:solidFill>
                <a:latin typeface="Urbanist Black"/>
              </a:rPr>
              <a:t>Lógica (Pasos 6, 7 y 8)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2138362"/>
            <a:ext cx="5550693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E3F2FD"/>
                </a:solidFill>
                <a:latin typeface="Urbanist"/>
              </a:rPr>
              <a:t>Paso 9: Estructura de Costos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34125" y="2138362"/>
            <a:ext cx="5550693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E3F2FD"/>
                </a:solidFill>
                <a:latin typeface="Urbanist"/>
              </a:rPr>
              <a:t>Paso 5: Fuentes de Ingresos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2633662"/>
            <a:ext cx="50006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B0BEC5"/>
                </a:solidFill>
                <a:latin typeface="Urbanist"/>
              </a:rPr>
              <a:t>I+D y Software:</a:t>
            </a:r>
            <a:r>
              <a:rPr sz="1500" b="0" i="0" u="none">
                <a:solidFill>
                  <a:srgbClr val="B0BEC5"/>
                </a:solidFill>
                <a:latin typeface="Urbanist"/>
              </a:rPr>
              <a:t> Desarrollo de la App móvil, Backend e IA (Insume el 60% del capital Seed inicial).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3395662"/>
            <a:ext cx="50006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B0BEC5"/>
                </a:solidFill>
                <a:latin typeface="Urbanist"/>
              </a:rPr>
              <a:t>Infraestructura:</a:t>
            </a:r>
            <a:r>
              <a:rPr sz="1500" b="0" i="0" u="none">
                <a:solidFill>
                  <a:srgbClr val="B0BEC5"/>
                </a:solidFill>
                <a:latin typeface="Urbanist"/>
              </a:rPr>
              <a:t> Hosting, servidores en la nube (Supabase, Vercel) y procesamiento de n8n.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157662"/>
            <a:ext cx="50006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B0BEC5"/>
                </a:solidFill>
                <a:latin typeface="Urbanist"/>
              </a:rPr>
              <a:t>Recursos Humanos:</a:t>
            </a:r>
            <a:r>
              <a:rPr sz="1500" b="0" i="0" u="none">
                <a:solidFill>
                  <a:srgbClr val="B0BEC5"/>
                </a:solidFill>
                <a:latin typeface="Urbanist"/>
              </a:rPr>
              <a:t> Adquisición de talento especializado (desarrolladores y científicos).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4919662"/>
            <a:ext cx="50006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B0BEC5"/>
                </a:solidFill>
                <a:latin typeface="Urbanist"/>
              </a:rPr>
              <a:t>Operaciones:</a:t>
            </a:r>
            <a:r>
              <a:rPr sz="1500" b="0" i="0" u="none">
                <a:solidFill>
                  <a:srgbClr val="B0BEC5"/>
                </a:solidFill>
                <a:latin typeface="Urbanist"/>
              </a:rPr>
              <a:t> Despliegue del piloto en Puerto Madryn, sensores IoT y auditorías de certificación.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9875" y="2633662"/>
            <a:ext cx="50006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B0BEC5"/>
                </a:solidFill>
                <a:latin typeface="Urbanist"/>
              </a:rPr>
              <a:t>Suscripciones SaaS B2B:</a:t>
            </a:r>
            <a:r>
              <a:rPr sz="1500" b="0" i="0" u="none">
                <a:solidFill>
                  <a:srgbClr val="B0BEC5"/>
                </a:solidFill>
                <a:latin typeface="Urbanist"/>
              </a:rPr>
              <a:t> Planes mensuales recurrentes (Starter $500, Pro $2.000, Enterprise $8.000).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9875" y="3395662"/>
            <a:ext cx="50006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B0BEC5"/>
                </a:solidFill>
                <a:latin typeface="Urbanist"/>
              </a:rPr>
              <a:t>Marketplace ESG:</a:t>
            </a:r>
            <a:r>
              <a:rPr sz="1500" b="0" i="0" u="none">
                <a:solidFill>
                  <a:srgbClr val="B0BEC5"/>
                </a:solidFill>
                <a:latin typeface="Urbanist"/>
              </a:rPr>
              <a:t> Comisión por transacción (8% - 12%) sobre la venta de créditos de carbono azul.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9875" y="4157662"/>
            <a:ext cx="50006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B0BEC5"/>
                </a:solidFill>
                <a:latin typeface="Urbanist"/>
              </a:rPr>
              <a:t>Monetización de Datos:</a:t>
            </a:r>
            <a:r>
              <a:rPr sz="1500" b="0" i="0" u="none">
                <a:solidFill>
                  <a:srgbClr val="B0BEC5"/>
                </a:solidFill>
                <a:latin typeface="Urbanist"/>
              </a:rPr>
              <a:t> Venta de datasets oceanográficos anonimizados y verificados.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9875" y="4919662"/>
            <a:ext cx="50006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B0BEC5"/>
                </a:solidFill>
                <a:latin typeface="Urbanist"/>
              </a:rPr>
              <a:t>Partnerships:</a:t>
            </a:r>
            <a:r>
              <a:rPr sz="1500" b="0" i="0" u="none">
                <a:solidFill>
                  <a:srgbClr val="B0BEC5"/>
                </a:solidFill>
                <a:latin typeface="Urbanist"/>
              </a:rPr>
              <a:t> Revenue share (15%) por el canje de tokens OKN en ecoturismo.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2652712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00E5FF"/>
                </a:solidFill>
                <a:latin typeface="Urbanist"/>
              </a:rPr>
              <a:t>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3414712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00E5FF"/>
                </a:solidFill>
                <a:latin typeface="Urbanist"/>
              </a:rPr>
              <a:t>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176712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00E5FF"/>
                </a:solidFill>
                <a:latin typeface="Urbanist"/>
              </a:rPr>
              <a:t>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938712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00E5FF"/>
                </a:solidFill>
                <a:latin typeface="Urbanist"/>
              </a:rPr>
              <a:t>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4125" y="2652712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00E5FF"/>
                </a:solidFill>
                <a:latin typeface="Urbanist"/>
              </a:rPr>
              <a:t>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4125" y="3414712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00E5FF"/>
                </a:solidFill>
                <a:latin typeface="Urbanist"/>
              </a:rPr>
              <a:t>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4125" y="4176712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00E5FF"/>
                </a:solidFill>
                <a:latin typeface="Urbanist"/>
              </a:rPr>
              <a:t>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4125" y="4938712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00E5FF"/>
                </a:solidFill>
                <a:latin typeface="Urbanist"/>
              </a:rPr>
              <a:t>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0" i="0" u="none">
                <a:solidFill>
                  <a:srgbClr val="FFFFFF"/>
                </a:solidFill>
                <a:latin typeface="Urbanist Black"/>
              </a:rPr>
              <a:t>Base Financiera: </a:t>
            </a:r>
            <a:r>
              <a:rPr sz="3750" b="0" i="0" u="none">
                <a:solidFill>
                  <a:srgbClr val="00E5FF"/>
                </a:solidFill>
                <a:latin typeface="Urbanist Black"/>
              </a:rPr>
              <a:t>Pasos 5 y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2243137"/>
            <a:ext cx="5286375" cy="3333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7250" y="2243137"/>
            <a:ext cx="50006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B0BEC5"/>
                </a:solidFill>
                <a:latin typeface="Urbanist"/>
              </a:rPr>
              <a:t>La plataforma </a:t>
            </a:r>
            <a:r>
              <a:rPr sz="1500" b="1" i="0" u="none">
                <a:solidFill>
                  <a:srgbClr val="B0BEC5"/>
                </a:solidFill>
                <a:latin typeface="Urbanist"/>
              </a:rPr>
              <a:t>n8n</a:t>
            </a:r>
            <a:r>
              <a:rPr sz="1500" b="0" i="0" u="none">
                <a:solidFill>
                  <a:srgbClr val="B0BEC5"/>
                </a:solidFill>
                <a:latin typeface="Urbanist"/>
              </a:rPr>
              <a:t> actúa como el cerebro de automatización entre los recursos clave (Paso 6) y la relación con el cliente (Paso 4).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3290887"/>
            <a:ext cx="50006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B0BEC5"/>
                </a:solidFill>
                <a:latin typeface="Urbanist"/>
              </a:rPr>
              <a:t>Triage Biológico:</a:t>
            </a:r>
            <a:r>
              <a:rPr sz="1500" b="0" i="0" u="none">
                <a:solidFill>
                  <a:srgbClr val="B0BEC5"/>
                </a:solidFill>
                <a:latin typeface="Urbanist"/>
              </a:rPr>
              <a:t> n8n clasifica los reportes validados. Si la IA detecta una especie vulnerable, el flujo dispara una alerta inmediata vía WhatsApp a las autoridades.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4338637"/>
            <a:ext cx="50006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B0BEC5"/>
                </a:solidFill>
                <a:latin typeface="Urbanist"/>
              </a:rPr>
              <a:t>Retención B2C:</a:t>
            </a:r>
            <a:r>
              <a:rPr sz="1500" b="0" i="0" u="none">
                <a:solidFill>
                  <a:srgbClr val="B0BEC5"/>
                </a:solidFill>
                <a:latin typeface="Urbanist"/>
              </a:rPr>
              <a:t> Emite y notifica automáticamente la carga de los Tokens OKN por correo electrónico, cerrando el ciclo de la propuesta de valor sin fricción manual.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175" y="2262187"/>
            <a:ext cx="5248275" cy="3295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262187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00E5FF"/>
                </a:solidFill>
                <a:latin typeface="Urbanist"/>
              </a:rPr>
              <a:t>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309937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00E5FF"/>
                </a:solidFill>
                <a:latin typeface="Urbanist"/>
              </a:rPr>
              <a:t>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357687"/>
            <a:ext cx="152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00E5FF"/>
                </a:solidFill>
                <a:latin typeface="Urbanist"/>
              </a:rPr>
              <a:t>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0" i="0" u="none">
                <a:solidFill>
                  <a:srgbClr val="FFFFFF"/>
                </a:solidFill>
                <a:latin typeface="Urbanist Black"/>
              </a:rPr>
              <a:t>Integración: </a:t>
            </a:r>
            <a:r>
              <a:rPr sz="3750" b="0" i="0" u="none">
                <a:solidFill>
                  <a:srgbClr val="00E5FF"/>
                </a:solidFill>
                <a:latin typeface="Urbanist Black"/>
              </a:rPr>
              <a:t>Automatización con n8n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865</Words>
  <Application>Microsoft Office PowerPoint</Application>
  <PresentationFormat>Panorámica</PresentationFormat>
  <Paragraphs>96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Arial</vt:lpstr>
      <vt:lpstr>Calibri</vt:lpstr>
      <vt:lpstr>Urbanist</vt:lpstr>
      <vt:lpstr>Urbanist Black</vt:lpstr>
      <vt:lpstr>Urbanist ExtraBold</vt:lpstr>
      <vt:lpstr>Urbanist 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Lean Orozco</cp:lastModifiedBy>
  <cp:revision>2</cp:revision>
  <dcterms:created xsi:type="dcterms:W3CDTF">2013-01-27T09:14:16Z</dcterms:created>
  <dcterms:modified xsi:type="dcterms:W3CDTF">2026-09-04T22:37:35Z</dcterms:modified>
  <cp:category/>
</cp:coreProperties>
</file>