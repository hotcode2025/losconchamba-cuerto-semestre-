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22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320040" y="164592"/>
            <a:ext cx="115488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OceanOS — </a:t>
            </a:r>
            <a:r>
              <a:rPr b="1" i="0" lang="en-US" sz="2400" u="none" cap="none" strike="noStrike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Modelo Canvas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320040" y="621792"/>
            <a:ext cx="11548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A1C1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81A1C1"/>
                </a:solidFill>
                <a:latin typeface="Arial"/>
                <a:ea typeface="Arial"/>
                <a:cs typeface="Arial"/>
                <a:sym typeface="Arial"/>
              </a:rPr>
              <a:t>Business Model Canvas — Los 9 bloques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20040" y="1051560"/>
            <a:ext cx="2279896" cy="3931920"/>
          </a:xfrm>
          <a:prstGeom prst="roundRect">
            <a:avLst>
              <a:gd fmla="val 3209" name="adj"/>
            </a:avLst>
          </a:prstGeom>
          <a:solidFill>
            <a:srgbClr val="0A1F38"/>
          </a:solidFill>
          <a:ln cap="flat" cmpd="sng" w="9525">
            <a:solidFill>
              <a:srgbClr val="1331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429768" y="1124712"/>
            <a:ext cx="206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🤝  Socios Clave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429768" y="1435608"/>
            <a:ext cx="206044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CONICET/CENPAT: validación científica y datos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Secretaría de Pesca: marco regulatorio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Fundación Rewilding: metodología de restauración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Operadores turísticos (Pto. Madryn): red de recompensas (Tokens OKN)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Certificadoras: Verra, Gold Standard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Proveedores IoT: sensores para el SaaS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737096" y="1051560"/>
            <a:ext cx="1883392" cy="1897380"/>
          </a:xfrm>
          <a:prstGeom prst="roundRect">
            <a:avLst>
              <a:gd fmla="val 3884" name="adj"/>
            </a:avLst>
          </a:prstGeom>
          <a:solidFill>
            <a:srgbClr val="0A1F38"/>
          </a:solidFill>
          <a:ln cap="flat" cmpd="sng" w="9525">
            <a:solidFill>
              <a:srgbClr val="1331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2846824" y="1124712"/>
            <a:ext cx="16639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⚙️  Actividades Clave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2846824" y="1435608"/>
            <a:ext cx="1663936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Desarrollo de App móvil y algoritmos de 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Operación de flujos de automatización (n8n)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Validación comunitaria y científica de avistamientos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Gestión del marketplace y certificación de carbono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737096" y="3086100"/>
            <a:ext cx="1883392" cy="1897380"/>
          </a:xfrm>
          <a:prstGeom prst="roundRect">
            <a:avLst>
              <a:gd fmla="val 3884" name="adj"/>
            </a:avLst>
          </a:prstGeom>
          <a:solidFill>
            <a:srgbClr val="0A1F38"/>
          </a:solidFill>
          <a:ln cap="flat" cmpd="sng" w="9525">
            <a:solidFill>
              <a:srgbClr val="1331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2846824" y="3159252"/>
            <a:ext cx="16639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🛠️  Recursos Clave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2846824" y="3470148"/>
            <a:ext cx="1663936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Tecnológicos: IA on-device (TensorFlow), App React Native, Backend Supabase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Datos: base de avistamientos verificados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Humanos: equipo tech y biólogos marinos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757648" y="1051560"/>
            <a:ext cx="2676399" cy="3931920"/>
          </a:xfrm>
          <a:prstGeom prst="roundRect">
            <a:avLst>
              <a:gd fmla="val 2733" name="adj"/>
            </a:avLst>
          </a:prstGeom>
          <a:solidFill>
            <a:srgbClr val="0D2E4E"/>
          </a:solidFill>
          <a:ln cap="flat" cmpd="sng" w="9525">
            <a:solidFill>
              <a:srgbClr val="1331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 txBox="1"/>
          <p:nvPr/>
        </p:nvSpPr>
        <p:spPr>
          <a:xfrm>
            <a:off x="4867376" y="1124712"/>
            <a:ext cx="2456943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🎁  Propuesta de Valor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4867376" y="1435608"/>
            <a:ext cx="2456943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B2C (Ciudadanos): App gratuita que convierte reportes ecológicos en recompensas tangibles (Tokens OKN) para ecoturismo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B2B (SaaS): monitoreo oceánico en tiempo real con alertas IoT/n8n, ahorrando costos operativos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ESG: marketplace de activos de carbono azul verificados y ecosistemas de kelp trazables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7571207" y="1051560"/>
            <a:ext cx="1883392" cy="1897380"/>
          </a:xfrm>
          <a:prstGeom prst="roundRect">
            <a:avLst>
              <a:gd fmla="val 3884" name="adj"/>
            </a:avLst>
          </a:prstGeom>
          <a:solidFill>
            <a:srgbClr val="0A1F38"/>
          </a:solidFill>
          <a:ln cap="flat" cmpd="sng" w="9525">
            <a:solidFill>
              <a:srgbClr val="1331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 txBox="1"/>
          <p:nvPr/>
        </p:nvSpPr>
        <p:spPr>
          <a:xfrm>
            <a:off x="7680935" y="1124712"/>
            <a:ext cx="16639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❤️  Relación con Clientes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 txBox="1"/>
          <p:nvPr/>
        </p:nvSpPr>
        <p:spPr>
          <a:xfrm>
            <a:off x="7680935" y="1435608"/>
            <a:ext cx="1663936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Autogestión/gamificación: ranking e insignias en la App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Comunicaciones automáticas: alertas y bienvenida vía n8n (WhatsApp/Email)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Soporte dedicado: clientes SaaS Enterprise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7571207" y="3086100"/>
            <a:ext cx="1883392" cy="1897380"/>
          </a:xfrm>
          <a:prstGeom prst="roundRect">
            <a:avLst>
              <a:gd fmla="val 3884" name="adj"/>
            </a:avLst>
          </a:prstGeom>
          <a:solidFill>
            <a:srgbClr val="0A1F38"/>
          </a:solidFill>
          <a:ln cap="flat" cmpd="sng" w="9525">
            <a:solidFill>
              <a:srgbClr val="1331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 txBox="1"/>
          <p:nvPr/>
        </p:nvSpPr>
        <p:spPr>
          <a:xfrm>
            <a:off x="7680935" y="3159252"/>
            <a:ext cx="16639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🚚  Canales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7680935" y="3470148"/>
            <a:ext cx="1663936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App móvil (iOS/Android)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Dashboard web (B2B SaaS)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Plataforma Marketplace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Redes sociales y WhatsApp (captación)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Venta directa (outreach B2B)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9591759" y="1051560"/>
            <a:ext cx="2279896" cy="3931920"/>
          </a:xfrm>
          <a:prstGeom prst="roundRect">
            <a:avLst>
              <a:gd fmla="val 3209" name="adj"/>
            </a:avLst>
          </a:prstGeom>
          <a:solidFill>
            <a:srgbClr val="0A1F38"/>
          </a:solidFill>
          <a:ln cap="flat" cmpd="sng" w="9525">
            <a:solidFill>
              <a:srgbClr val="1331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 txBox="1"/>
          <p:nvPr/>
        </p:nvSpPr>
        <p:spPr>
          <a:xfrm>
            <a:off x="9701487" y="1124712"/>
            <a:ext cx="206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🎯  Segmentos de Clientes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9701487" y="1435608"/>
            <a:ext cx="206044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B2C: buceadores (~3.5k), pescadores artesanales (~8k), turistas (240k/año), investigadores en Patagonia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B2B SaaS: ONGs ambientales, áreas protegidas, pesqueras y gobierno provincial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B2B Activos: corporaciones globales (metas net-zero) y fondos ESG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20040" y="5212080"/>
            <a:ext cx="5707228" cy="1371600"/>
          </a:xfrm>
          <a:prstGeom prst="roundRect">
            <a:avLst>
              <a:gd fmla="val 5333" name="adj"/>
            </a:avLst>
          </a:prstGeom>
          <a:solidFill>
            <a:srgbClr val="0A1F38"/>
          </a:solidFill>
          <a:ln cap="flat" cmpd="sng" w="9525">
            <a:solidFill>
              <a:srgbClr val="1331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 txBox="1"/>
          <p:nvPr/>
        </p:nvSpPr>
        <p:spPr>
          <a:xfrm>
            <a:off x="429768" y="5285232"/>
            <a:ext cx="54877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💸  Estructura de Costos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429768" y="5596128"/>
            <a:ext cx="54877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I+D: desarrollo de software (60% del capital Seed)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Infraestructura: servidores cloud (Supabase, Vercel, Mapbox, n8n)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RRHH: sueldos equipo tech (25% del capital)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Operaciones: certificaciones (Verra), sensores IoT, marketing piloto en Pto. Madryn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164428" y="5212080"/>
            <a:ext cx="5707228" cy="1371600"/>
          </a:xfrm>
          <a:prstGeom prst="roundRect">
            <a:avLst>
              <a:gd fmla="val 5333" name="adj"/>
            </a:avLst>
          </a:prstGeom>
          <a:solidFill>
            <a:srgbClr val="0A1F38"/>
          </a:solidFill>
          <a:ln cap="flat" cmpd="sng" w="9525">
            <a:solidFill>
              <a:srgbClr val="1331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 txBox="1"/>
          <p:nvPr/>
        </p:nvSpPr>
        <p:spPr>
          <a:xfrm>
            <a:off x="6274156" y="5285232"/>
            <a:ext cx="54877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💰  Fuentes de Ingresos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6274156" y="5596128"/>
            <a:ext cx="54877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Suscripciones SaaS: Starter ($500/mes), Pro ($2.000/mes), Enterprise ($8.000/mes)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Marketplace: comisión 8%-12% por transacción de créditos de carbono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B2B Data: venta de datasets anonimizados ($5.000/dataset)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3F2FD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Revenue Share: 15% de comisión por canjes en ecoturismo local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